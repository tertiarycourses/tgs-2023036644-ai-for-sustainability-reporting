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Absolute result</c:v>
                </c:pt>
              </c:strCache>
            </c:strRef>
          </c:tx>
          <c:spPr>
            <a:ln>
              <a:solidFill>
                <a:srgbClr val="1F6FEB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79.89999999999999</c:v>
                </c:pt>
                <c:pt idx="2">
                  <c:v>73.1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>
              <a:solidFill>
                <a:srgbClr val="108A73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</c:v>
                </c:pt>
                <c:pt idx="1">
                  <c:v>76.5</c:v>
                </c:pt>
                <c:pt idx="2">
                  <c:v>68.0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Absolute result</c:v>
                </c:pt>
              </c:strCache>
            </c:strRef>
          </c:tx>
          <c:spPr>
            <a:ln>
              <a:solidFill>
                <a:srgbClr val="1F6FEB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110</c:v>
                </c:pt>
                <c:pt idx="1">
                  <c:v>103.39999999999999</c:v>
                </c:pt>
                <c:pt idx="2">
                  <c:v>94.6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>
              <a:solidFill>
                <a:srgbClr val="108A73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110</c:v>
                </c:pt>
                <c:pt idx="1">
                  <c:v>99.0</c:v>
                </c:pt>
                <c:pt idx="2">
                  <c:v>88.0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Absolute result</c:v>
                </c:pt>
              </c:strCache>
            </c:strRef>
          </c:tx>
          <c:spPr>
            <a:ln>
              <a:solidFill>
                <a:srgbClr val="1F6FEB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94.0</c:v>
                </c:pt>
                <c:pt idx="2">
                  <c:v>86.0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>
              <a:solidFill>
                <a:srgbClr val="108A73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90.0</c:v>
                </c:pt>
                <c:pt idx="2">
                  <c:v>80.0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Absolute result</c:v>
                </c:pt>
              </c:strCache>
            </c:strRef>
          </c:tx>
          <c:spPr>
            <a:ln>
              <a:solidFill>
                <a:srgbClr val="1F6FEB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84.6</c:v>
                </c:pt>
                <c:pt idx="2">
                  <c:v>77.4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>
              <a:solidFill>
                <a:srgbClr val="108A73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81.0</c:v>
                </c:pt>
                <c:pt idx="2">
                  <c:v>72.0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Absolute result</c:v>
                </c:pt>
              </c:strCache>
            </c:strRef>
          </c:tx>
          <c:spPr>
            <a:ln>
              <a:solidFill>
                <a:srgbClr val="1F6FEB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75.19999999999999</c:v>
                </c:pt>
                <c:pt idx="2">
                  <c:v>68.8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>
              <a:solidFill>
                <a:srgbClr val="108A73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</c:v>
                </c:pt>
                <c:pt idx="1">
                  <c:v>72.0</c:v>
                </c:pt>
                <c:pt idx="2">
                  <c:v>64.0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Absolute result</c:v>
                </c:pt>
              </c:strCache>
            </c:strRef>
          </c:tx>
          <c:spPr>
            <a:ln>
              <a:solidFill>
                <a:srgbClr val="1F6FEB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105</c:v>
                </c:pt>
                <c:pt idx="1">
                  <c:v>98.69999999999999</c:v>
                </c:pt>
                <c:pt idx="2">
                  <c:v>90.3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>
              <a:solidFill>
                <a:srgbClr val="108A73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105</c:v>
                </c:pt>
                <c:pt idx="1">
                  <c:v>94.5</c:v>
                </c:pt>
                <c:pt idx="2">
                  <c:v>84.0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Absolute result</c:v>
                </c:pt>
              </c:strCache>
            </c:strRef>
          </c:tx>
          <c:spPr>
            <a:ln>
              <a:solidFill>
                <a:srgbClr val="1F6FEB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89.3</c:v>
                </c:pt>
                <c:pt idx="2">
                  <c:v>81.7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>
              <a:solidFill>
                <a:srgbClr val="108A73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</c:v>
                </c:pt>
                <c:pt idx="1">
                  <c:v>85.5</c:v>
                </c:pt>
                <c:pt idx="2">
                  <c:v>76.0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Absolute result</c:v>
                </c:pt>
              </c:strCache>
            </c:strRef>
          </c:tx>
          <c:spPr>
            <a:ln>
              <a:solidFill>
                <a:srgbClr val="1F6FEB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105</c:v>
                </c:pt>
                <c:pt idx="1">
                  <c:v>98.69999999999999</c:v>
                </c:pt>
                <c:pt idx="2">
                  <c:v>90.3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>
              <a:solidFill>
                <a:srgbClr val="108A73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105</c:v>
                </c:pt>
                <c:pt idx="1">
                  <c:v>94.5</c:v>
                </c:pt>
                <c:pt idx="2">
                  <c:v>84.0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Absolute result</c:v>
                </c:pt>
              </c:strCache>
            </c:strRef>
          </c:tx>
          <c:spPr>
            <a:ln>
              <a:solidFill>
                <a:srgbClr val="1F6FEB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75.19999999999999</c:v>
                </c:pt>
                <c:pt idx="2">
                  <c:v>68.8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>
              <a:solidFill>
                <a:srgbClr val="108A73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</c:v>
                </c:pt>
                <c:pt idx="1">
                  <c:v>72.0</c:v>
                </c:pt>
                <c:pt idx="2">
                  <c:v>64.0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Absolute result</c:v>
                </c:pt>
              </c:strCache>
            </c:strRef>
          </c:tx>
          <c:spPr>
            <a:ln>
              <a:solidFill>
                <a:srgbClr val="1F6FEB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105</c:v>
                </c:pt>
                <c:pt idx="1">
                  <c:v>98.69999999999999</c:v>
                </c:pt>
                <c:pt idx="2">
                  <c:v>90.3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>
              <a:solidFill>
                <a:srgbClr val="108A73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105</c:v>
                </c:pt>
                <c:pt idx="1">
                  <c:v>94.5</c:v>
                </c:pt>
                <c:pt idx="2">
                  <c:v>84.0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Absolute result</c:v>
                </c:pt>
              </c:strCache>
            </c:strRef>
          </c:tx>
          <c:spPr>
            <a:ln>
              <a:solidFill>
                <a:srgbClr val="1F6FEB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89.3</c:v>
                </c:pt>
                <c:pt idx="2">
                  <c:v>81.7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>
              <a:solidFill>
                <a:srgbClr val="108A73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</c:v>
                </c:pt>
                <c:pt idx="1">
                  <c:v>85.5</c:v>
                </c:pt>
                <c:pt idx="2">
                  <c:v>76.0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36644-Sustainability-Reporting-and-GRI-Standard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singapore-repor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" y="0"/>
            <a:ext cx="12185521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8368"/>
            <a:ext cx="164592" cy="53492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50292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1508760"/>
            <a:ext cx="416052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61B26"/>
                </a:solidFill>
                <a:latin typeface="Arial"/>
              </a:rPr>
              <a:t>Sustainability Reporting and GRI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49039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WSQ · TGS-2023036644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24528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Master Trainer Slides · v10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736592"/>
            <a:ext cx="4114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Tertiary Infotech Academy Pte Ltd
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650992"/>
            <a:ext cx="4114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Trainer: Dr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126480"/>
            <a:ext cx="41148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ADMIN · MANDATORY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Digital Attendance · TRAQOM and SSG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SkillsFuture Singapore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Scan the QR code and submit through Singpass.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Repeat the digital attendance after lunch.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Complete the separate assessment attendance.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Confirm successful submission with the trainer.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Attendance eligibility uses the SSG digital record; complete all required sessions.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B6372"/>
                </a:solidFill>
                <a:latin typeface="Arial"/>
              </a:rPr>
              <a:t>ADMIN · 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About the Trainer · General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Designation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Qualifications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Experience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5B6372"/>
                </a:solidFill>
                <a:latin typeface="Arial"/>
              </a:rPr>
              <a:t>Areas of expertise and contact: ______________________________________________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ADMIN · 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About the Trainer · Dr Alfred 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Course developer and trainer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Technical reporting and applied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Credentials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PhD · ACTA/DACE credentials on 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Delivery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WSQ workplace learning and assessment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Named trainer details are presented as a profile; trainers should update only verified credentials.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ADMIN · LEARNER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Learner Introductions as a Stakeholder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What decisions do you make?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Where do impacts occur?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What evidence do you own?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Goal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What will you apply after class?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Listen for different users, boundaries and evidence needs — these become the reporting design problem.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ADMIN · WORKING AGREEMENT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Ground Rules for Evidence-Based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Participate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Contribute evidence and reasoning.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Question assumptions, not people.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Protect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Do not share confidential company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Verify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Separate fact, judgement and estimate.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Use public or fictionalised data in activities; never disclose personal or commercially sensitive information.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ADMIN ·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Course Architecture · Three Learning Units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Course Proposal TPG-2023048433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LU1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Objective, boundary, stakeholders and Singapore obligations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LU2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 1-3, Topic Standards and material-topic 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LU3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Data controls, drafting, visualisation, review and release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Assessment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WA K1-K5 · Case Study A1-A5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The sequence follows the reporting lifecycle: decide why → determine what → prove and publish.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ADMIN · 9:00 AM–6:00 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Two-Day Lesson Plan · Controlled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Course Proposal: 14 training hours + 2 assessment hours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Day 1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LU1 · objectives, boundary, SGX · Activities 1-2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Day 1 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LU2 · GRI architecture and stakeholders · Activities 3-4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Day 2 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Material topics and disclosures · Activities 5-8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Day 2 PM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Draft, verify, submit · Activities 9-10 · assessment 4-6pm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Breaks are 10 minutes; lunch is 45 minutes; the final assessment is WA 60 min + CS 60 min.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ADMIN ·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Learning Outcomes ·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Course Proposal and official course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LO1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LO1: Identify objectives of sustainability reports in accordance with organisational procedures.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LO2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LO2: Structure and collaborate with stakeholders on sustainability reporting based on GRI Standards.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LO3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LO3: Proofread and submit sustainability reports with data displayed effectively to relevant stakeholders.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Competence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 complete evidence-linked report pack that survives review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Each outcome is practised in Activities and assessed using the original K/A mapping.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ADMIN · BEFORE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Original TMS papers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Individual · summative · open book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Slides, Learner Guide and approved materials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Conduct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No discussion, photos or recording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Submission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Complete and upload the provided document on the LMS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Ask procedural questions before the assessment begins; assessment content cannot be clarified during the attempt.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ADMIN ·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· Original Design Preserved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Course Proposal and original Drive papers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5 open-ended questions · K1-K5 · 60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Case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3 open-ended questions · A1-A5 · 60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Standard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Competent / Not Yet Competent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Question papers only on LMS; answer keys trainer-only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2413A"/>
                </a:solidFill>
                <a:latin typeface="Arial"/>
              </a:rPr>
              <a:t>The revised papers preserve instrument, timing, count and criterion coverage.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Flow · Attendance to Sign-Off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Tertiary Infotech assessment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TRAQOM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scan LMS QR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Attendance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assessment record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WA then CS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Submit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upload on LMS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Sign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summary record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2413A"/>
                </a:solidFill>
                <a:latin typeface="Arial"/>
              </a:rPr>
              <a:t>Complete both instruments and the sign-off path; appeal information is available from the assessor.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ADMIN · COURSE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Access the Activities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https://github.com/tertiarycourses/TGS-2023036644-Sustainability-Reporting-and-GRI-Standards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Open the learner repository.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Clone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git clone https://github.com/tertiarycourses/TGS-2023036644-Sustainability-Reporting-and-GRI-Standards.git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Download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GitHub Code → Download ZIP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Save outputs inside each Activity folder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The detailed procedure is in each Activity README and the Learner Guide — not in these slides.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5824728"/>
            <a:ext cx="452628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1">
                <a:solidFill>
                  <a:srgbClr val="108A73"/>
                </a:solidFill>
                <a:latin typeface="Arial"/>
                <a:hlinkClick r:id="rId2"/>
              </a:rPr>
              <a:t>OPEN LEARNER REPOSITORY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ADMIN · 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https://lms-tms.tertiaryinfotech.com/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Download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Slides, Learner Guide and Activity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WA followed by Case Study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Upload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Submit completed documents in the LMS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enquiry@tertiaryinfotech.com · +65 6100 0613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Use the current files shown by filename and version; report any stale or inaccessible link before assessment.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5824728"/>
            <a:ext cx="452628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1">
                <a:solidFill>
                  <a:srgbClr val="1F6FEB"/>
                </a:solidFill>
                <a:latin typeface="Arial"/>
                <a:hlinkClick r:id="rId2"/>
              </a:rPr>
              <a:t>OPEN LEARNING MANAGEMENT SYSTEM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148840"/>
            <a:ext cx="4754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LEARNING UNIT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651760"/>
            <a:ext cx="480060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100" b="1">
                <a:solidFill>
                  <a:srgbClr val="161B26"/>
                </a:solidFill>
                <a:latin typeface="Arial"/>
              </a:rPr>
              <a:t>Objectives, Boundaries and Obligations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069080"/>
            <a:ext cx="4754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Decide why the report exists, who uses it and what must be included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LU1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Impact materiality sets the GRI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actual and potential impacts on economy, environment and people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prioritise by significance of impact, not investor interest alone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impact register records positive/negative, actual/potential and value-chain location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Failure mode: using only financial materiality omits affected people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Mechanism · Impact materiality sets the GRI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actual and potential impacts on economy, environment and people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prioritise by significance of impact, not investor interest alone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using only financial materiality omits affected people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impact register records positive/negative, actual/potential and value-chain location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Control point: prioritise by significance of impact, not investor interest alone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Evidence test · Impact materiality sets the GRI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actual and potential impacts on economy, environment and people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prioritise by significance of impact, not investor interest alone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using only financial materiality omits affected people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impact register records positive/negative, actual/potential and value-chain location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LU1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Reporting objectives become decision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objective statement names audience, decision and reporting period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retain content only when it informs an identified user decision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purpose-to-disclosure matrix links each section to a decision and owner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Failure mode: publishing activity lists without impacts or outcomes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Mechanism · Reporting objectives become decision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objective statement names audience, decision and reporting period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retain content only when it informs an identified user decision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publishing activity lists without impacts or outcomes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purpose-to-disclosure matrix links each section to a decision and owner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Control point: retain content only when it informs an identified user decision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Reporting objectives become decision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objective statement names audience, decision and reporting period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retain content only when it informs an identified user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publishing activity lists without impacts or outcomes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purpose-to-disclosure matrix links each section to a decision and owner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LU1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 reporting procedure needs named control owners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EBOOK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RACI across data owner, topic owner, reviewer and Board approver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one accountable owner per disclosure; preparer cannot self-approve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signed disclosure checklist and approval log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Failure mode: orphan metrics and unreviewed narrative claims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A reporting procedure needs named control owners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RACI across data owner, topic owner, reviewer and Board approver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one accountable owner per disclosure; preparer cannot self-approve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orphan metrics and unreviewed narrative claims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signed disclosure checklist and approval log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Control point: one accountable owner per disclosure; preparer cannot self-approve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A reporting procedure needs named control owners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RACI across data owner, topic owner, reviewer and Board approver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one accountable owner per disclosure; preparer cannot self-approve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orphan metrics and unreviewed narrative claims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signed disclosure checklist and approval log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LU1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Reporting boundary follows controlled entities and impacts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entities in consolidated financial statements plus boundary exceptions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reconcile sustainability entities to financial consolidation scope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entity register with inclusion reason and restatement flag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Failure mode: excluding high-impact subsidiaries without explanation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Reporting boundary follows controlled entities and impacts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entities in consolidated financial statements plus boundary exceptions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reconcile sustainability entities to financial consolidation scope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excluding high-impact subsidiaries without explanation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entity register with inclusion reason and restatement flag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Control point: reconcile sustainability entities to financial consolidation scope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Reporting boundary follows controlled entities and impacts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entities in consolidated financial statements plus boundary exceptions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reconcile sustainability entities to financial consolidation scope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excluding high-impact subsidiaries without explanation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entity register with inclusion reason and restatement flag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LU1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Value-chain boundary reaches beyond owned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upstream, own operations and downstream impact locations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include business relationships where significant impacts occur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value-chain map names supplier tier, activity, geography and evidence source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Failure mode: Scope 3 or labour impacts disappear at the legal boundary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Value-chain boundary reaches beyond owned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upstream, own operations and downstream impact locations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include business relationships where significant impacts occur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Scope 3 or labour impacts disappear at the legal boundary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value-chain map names supplier tier, activity, geography and evidence source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Control point: include business relationships where significant impacts occur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EDITABLE CHART · INDICATIVE TEACHING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trend · Value-chain boundary reaches beyond owned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66294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26679" y="1783080"/>
            <a:ext cx="3611880" cy="3886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05740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587752"/>
            <a:ext cx="2926080" cy="2423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value-chain map names supplier tier, activity, geography and evidence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5029200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Indicative figures — replace with controlled source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LU1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Stakeholder mapping is evidence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stakeholder group, relationship, affected interest, channel and frequency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prioritise affected stakeholders and legitimate representatives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engagement register retains invitation, response and management action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Failure mode: surveying only investors creates a biased topic list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Mechanism · Stakeholder mapping is evidence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stakeholder group, relationship, affected interest, channel and frequency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prioritise affected stakeholders and legitimate representatives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surveying only investors creates a biased topic list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engagement register retains invitation, response and management action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Control point: prioritise affected stakeholders and legitimate representatives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Stakeholder mapping is evidence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stakeholder group, relationship, affected interest, channel and frequency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prioritise affected stakeholders and legitimate representatives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surveying only investors creates a biased topic list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engagement register retains invitation, response and management action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LU1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Engagement records must close the feedback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issue raised, evidence, response owner, decision and communication 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escalate unresolved severe impacts regardless of popularity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minutes show what changed, what did not and why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Failure mode: consultation becomes performative with no decision trace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Engagement records must close the feedback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issue raised, evidence, response owner, decision and communication back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escalate unresolved severe impacts regardless of popularity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consultation becomes performative with no decision trace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minutes show what changed, what did not and why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Control point: escalate unresolved severe impacts regardless of popularity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Engagement records must close the feedback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issue raised, evidence, response owner, decision and communication 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escalate unresolved severe impacts regardless of popularity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consultation becomes performative with no decision trace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minutes show what changed, what did not and why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LU1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Risks and opportunities require separate impact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SAP, What is sustainability reporting and how to do it 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event, cause, horizon, likelihood, magnitude and response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separate impact on people/planet from financial effect on enterprise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risk register cross-references material topic and financial line item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Failure mode: mixing opportunity marketing with unmanaged negative impacts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Risks and opportunities require separate impact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SAP, What is sustainability reporting and how to do it 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event, cause, horizon, likelihood, magnitude and response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separate impact on people/planet from financial effect on enterprise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mixing opportunity marketing with unmanaged negative impacts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risk register cross-references material topic and financial line item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Control point: separate impact on people/planet from financial effect on enterprise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Risks and opportunities require separate impact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SAP, What is sustainability reporting and how to do it 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event, cause, horizon, likelihood, magnitude and response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separate impact on people/planet from financial effect on enterprise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mixing opportunity marketing with unmanaged negative impacts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risk register cross-references material topic and financial line item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LU1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Framework choice follows audience and obligation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SAP, What is sustainability reporting and how to do it 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 impact reporting; ISSB investor-focused financial disclosure; SGX rule overlay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use multiple frameworks only with a disclosed crosswalk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framework register records requirement, owner, location and assurance 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Failure mode: framework stacking produces duplicate metrics and conflicting boundaries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Framework choice follows audience and obligation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SAP, What is sustainability reporting and how to do it 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GRI impact reporting; ISSB investor-focused financial disclosure; SGX rule overlay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use multiple frameworks only with a disclosed crosswalk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framework stacking produces duplicate metrics and conflicting boundaries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framework register records requirement, owner, location and assurance status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Control point: use multiple frameworks only with a disclosed crosswalk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Framework choice follows audience and obligation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SAP, What is sustainability reporting and how to do it 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 impact reporting; ISSB investor-focused financial disclosure; SGX rule overlay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use multiple frameworks only with a disclosed crosswalk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framework stacking produces duplicate metrics and conflicting boundaries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framework register records requirement, owner, location and assurance 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LU1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SGX Rule 711A fixes publication timing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SGX Mainboard Rules 711A and 711B, current at 11 September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SGX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report with annual report, or within five months when externally assured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set backward calendar from financial year end and approval 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publication calendar includes data freeze, review, Board and release gates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Failure mode: late data collection breaks Board review and same-time issue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Mechanism · SGX Rule 711A fixes publication timing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SGX Mainboard Rules 711A and 711B, current at 11 September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report with annual report, or within five months when externally assured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set backward calendar from financial year end and approval date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late data collection breaks Board review and same-time issue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publication calendar includes data freeze, review, Board and release gates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Control point: set backward calendar from financial year end and approval date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EDITABLE CHART · INDICATIVE TEACHING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trend · SGX Rule 711A fixes publication timing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SGX Mainboard Rules 711A and 711B, current at 11 September 2026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66294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26679" y="1783080"/>
            <a:ext cx="3611880" cy="3886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05740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587752"/>
            <a:ext cx="2926080" cy="2423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publication calendar includes data freeze, review, Board and release 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5029200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Indicative figures — replace with controlled source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LU1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SGX Rule 711B defines six primary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SGX Mainboard Rules 711A and 711B, current at 11 September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SGX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material ESG factors; climate; policies/performance; targets; framework; Board statement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content index must evidence every applicable component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711B compliance checklist points to exact page and evidence owner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Failure mode: a glossy report without targets or Board statement is incomplete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SGX Rule 711B defines six primary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SGX Mainboard Rules 711A and 711B, current at 11 September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material ESG factors; climate; policies/performance; targets; framework; Board statement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content index must evidence every applicable component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 glossy report without targets or Board statement is incomplete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711B compliance checklist points to exact page and evidence owner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Control point: content index must evidence every applicable component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SGX Rule 711B defines six primary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SGX Mainboard Rules 711A and 711B, current at 11 September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material ESG factors; climate; policies/performance; targets; framework; Board statement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content index must evidence every applicable component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 glossy report without targets or Board statement is incomplete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711B compliance checklist points to exact page and evidence owner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LU1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Internal review is a mandatory process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SGX Mainboard Rules 711A and 711B, current at 11 September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SGX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review scope, reviewer competence, exceptions and closure 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close high-risk exceptions before Board approval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review log shows sample, finding, owner, due date and closure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Failure mode: review sign-off with unresolved data gaps misstates readiness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Internal review is a mandatory process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SGX Mainboard Rules 711A and 711B, current at 11 September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review scope, reviewer competence, exceptions and closure evidence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close high-risk exceptions before Board approval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review sign-off with unresolved data gaps misstates readiness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review log shows sample, finding, owner, due date and closure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Control point: close high-risk exceptions before Board approval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Internal review is a mandatory process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SGX Mainboard Rules 711A and 711B, current at 11 September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review scope, reviewer competence, exceptions and closure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close high-risk exceptions before Board approval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review sign-off with unresolved data gaps misstates readiness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review log shows sample, finding, owner, due date and closure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LU1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Singapore climate reporting is tiered and phased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ACRA Sustainability reporting and assurance requirements, updated 27 July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ACRA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listed company tier and Large NLCo thresholds: revenue S$1b and assets S$500m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apply the current tier timetable and document transition reliefs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applicability memo cites entity type, market cap, FY and required scopes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Failure mode: assuming all Scope 3 requirements start together creates false claims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Singapore climate reporting is tiered and phased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ACRA Sustainability reporting and assurance requirements, updated 27 July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listed company tier and Large NLCo thresholds: revenue S$1b and assets S$500m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apply the current tier timetable and document transition reliefs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assuming all Scope 3 requirements start together creates false claims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applicability memo cites entity type, market cap, FY and required scopes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Control point: apply the current tier timetable and document transition reliefs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Singapore climate reporting is tiered and phased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ACRA Sustainability reporting and assurance requirements, updated 27 July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listed company tier and Large NLCo thresholds: revenue S$1b and assets S$500m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apply the current tier timetable and document transition reliefs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assuming all Scope 3 requirements start together creates false claims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applicability memo cites entity type, market cap, FY and required scopes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LO1 · REAL USE CASE · 45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Activity 1 · Set the reporting objective and SGX applicability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City Developments Limited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37947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3291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32918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Write a decision-useful reporting objective and determine which SGX 711A/711B components apply.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3291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2918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B6372"/>
                </a:solidFill>
                <a:latin typeface="Arial"/>
              </a:rPr>
              <a:t>CDL reporting page, SGX Rules 711A/711B, applicability worksheet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691640"/>
            <a:ext cx="678484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965960"/>
            <a:ext cx="6172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WORKFLOW — HIGH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City Developments Limited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F6FEB"/>
                </a:solidFill>
                <a:latin typeface="Arial"/>
              </a:rPr>
              <a:t>Inspect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F6FEB"/>
                </a:solidFill>
                <a:latin typeface="Arial"/>
              </a:rPr>
              <a:t>Apply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F6FEB"/>
                </a:solidFill>
                <a:latin typeface="Arial"/>
              </a:rP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peer 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2912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F6FEB"/>
                </a:solidFill>
                <a:latin typeface="Arial"/>
              </a:rPr>
              <a:t>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Approved objective statement and applicability memo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0912" y="4892040"/>
            <a:ext cx="598932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>
                <a:solidFill>
                  <a:srgbClr val="5B6372"/>
                </a:solidFill>
                <a:latin typeface="Arial"/>
              </a:rPr>
              <a:t>Full procedure: Learner Guide and activities/01-reporting-objective-and-sgx-applicability/README.md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1 workflow · decision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City Developments Limited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CDL reporting page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Write one decision each user must make.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Complete the 711A timing and 711B component checklist.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Draft an objective naming audience, decision, period and boundary.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Approved objective statement and applicability memo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Write a decision-useful reporting objective and determine which SGX 711A/711B components apply.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Evidence test · Activity 1 acceptance · Set the reporting objective and SGX applicability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City Developments Limited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CDL reporting page, SGX Rules 711A/711B, applicability worksheet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Write a decision-useful reporting objective and determine which SGX 711A/711B components apply.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Missing owner, boundary, rationale or source evidence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All six 711B components are marked applicable/not applicable with evidence; the objective names audience, decision, period and boundary.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LO1 · REAL USE CASE · 50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Activity 2 · Map the reporting boundary and value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Singtel Group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37947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3291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32918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Build an entity and value-chain boundary that does not hide significant impacts.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3291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2918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B6372"/>
                </a:solidFill>
                <a:latin typeface="Arial"/>
              </a:rPr>
              <a:t>Singtel Sustainability Report 2025, entity register and value-chain worksheet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691640"/>
            <a:ext cx="678484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965960"/>
            <a:ext cx="6172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WORKFLOW — HIGH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6D3FD2"/>
                </a:solidFill>
                <a:latin typeface="Arial"/>
              </a:rPr>
              <a:t>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Singtel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6D3FD2"/>
                </a:solidFill>
                <a:latin typeface="Arial"/>
              </a:rPr>
              <a:t>Inspect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6D3FD2"/>
                </a:solidFill>
                <a:latin typeface="Arial"/>
              </a:rPr>
              <a:t>Apply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6D3FD2"/>
                </a:solidFill>
                <a:latin typeface="Arial"/>
              </a:rP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peer 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2912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6D3FD2"/>
                </a:solidFill>
                <a:latin typeface="Arial"/>
              </a:rPr>
              <a:t>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Boundary register and value-chain impact 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0912" y="4892040"/>
            <a:ext cx="598932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>
                <a:solidFill>
                  <a:srgbClr val="5B6372"/>
                </a:solidFill>
                <a:latin typeface="Arial"/>
              </a:rPr>
              <a:t>Full procedure: Learner Guide and activities/02-boundary-and-value-chain-map/README.md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2 workflow · decision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Singtel Group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Singtel Sustainability Report 2025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Reconcile the list to the financial reporting scope.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Map upstream, own-operation and downstream activities.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Place actual and potential impacts on the map.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Boundary register and value-chain impact map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Build an entity and value-chain boundary that does not hide significant impacts.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Evidence test · Activity 2 acceptance · Map the reporting boundary and value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Singtel Group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Singtel Sustainability Report 2025, entity register and value-chain worksheet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Build an entity and value-chain boundary that does not hide significant impacts.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Missing owner, boundary, rationale or source evidence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Every entity and impact has an inclusion decision, rationale, owner and evidence source.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LO2 · REAL USE CASE · 55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3 · Design stakeholder engagement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CDL materiality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37947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3291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32918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Plan engagement that captures affected-stakeholder perspectives and closes the feedback loop.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3291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2918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B6372"/>
                </a:solidFill>
                <a:latin typeface="Arial"/>
              </a:rPr>
              <a:t>CDL materiality reporting, stakeholder register and interview guide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691640"/>
            <a:ext cx="678484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965960"/>
            <a:ext cx="6172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WORKFLOW — HIGH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08A73"/>
                </a:solidFill>
                <a:latin typeface="Arial"/>
              </a:rPr>
              <a:t>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CDL materiality 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08A73"/>
                </a:solidFill>
                <a:latin typeface="Arial"/>
              </a:rPr>
              <a:t>Inspect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peer 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2912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08A73"/>
                </a:solidFill>
                <a:latin typeface="Arial"/>
              </a:rPr>
              <a:t>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Stakeholder map, engagement log and disclosure paragraph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0912" y="4892040"/>
            <a:ext cx="598932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>
                <a:solidFill>
                  <a:srgbClr val="5B6372"/>
                </a:solidFill>
                <a:latin typeface="Arial"/>
              </a:rPr>
              <a:t>Full procedure: Learner Guide and activities/03-stakeholder-engagement-evidence/README.md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3 workflow · decision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CDL materiality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CDL materiality reporting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Score influence and degree affected separately.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Choose survey, interview, workshop or grievance evidence.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Record issues raised and management responses.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Stakeholder map, engagement log and disclosure paragraph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Plan engagement that captures affected-stakeholder perspectives and closes the feedback loop.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Evidence test · Activity 3 acceptance · Design stakeholder engagement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CDL materiality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CDL materiality reporting, stakeholder register and interview guide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Plan engagement that captures affected-stakeholder perspectives and closes the feedback loop.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Missing owner, boundary, rationale or source evidence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Each material issue traces to a stakeholder source, management decision and feedback response.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END OF LEARNING UNIT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Reflection and Evidence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11680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6968" y="2240280"/>
            <a:ext cx="411480" cy="4114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35607" y="2176272"/>
            <a:ext cx="1463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Strongest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196596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Which output is reproducible?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2011680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30168" y="2240280"/>
            <a:ext cx="411480" cy="4114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8" y="2176272"/>
            <a:ext cx="1463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Open exception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63240"/>
            <a:ext cx="196596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Which gap could change a conclusion?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011680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73368" y="2240280"/>
            <a:ext cx="411480" cy="4114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22007" y="2176272"/>
            <a:ext cx="1463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Stakeholder voice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63240"/>
            <a:ext cx="196596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Whose evidence is still missing?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2011680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16568" y="2240280"/>
            <a:ext cx="411480" cy="4114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5208" y="2176272"/>
            <a:ext cx="1463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Next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063240"/>
            <a:ext cx="196596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What must be resolved before drafting?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akeholder-materiality-work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64544"/>
            <a:ext cx="5559552" cy="312891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903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562356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148840"/>
            <a:ext cx="4754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LEARNING UNIT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51760"/>
            <a:ext cx="480060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100" b="1">
                <a:solidFill>
                  <a:srgbClr val="161B26"/>
                </a:solidFill>
                <a:latin typeface="Arial"/>
              </a:rPr>
              <a:t>Apply the GRI Standards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069080"/>
            <a:ext cx="4754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Move from organisational context to material topics and disclosure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GRI system is modular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Universal Standards GRI 1-3, applicable Sector Standards and selected Topic Standards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start with Universal, check sector, then add topics for each material impact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standards register lists title, publication year, applicability and disclosure owner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Failure mode: treating the Topic Standards as a menu before materiality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Mechanism · The GRI system is modular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Universal Standards GRI 1-3, applicable Sector Standards and selected Topic Standards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start with Universal, check sector, then add topics for each material impact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treating the Topic Standards as a menu before materiality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standards register lists title, publication year, applicability and disclosure owner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Control point: start with Universal, check sector, then add topics for each material impact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Evidence test · The GRI system is modular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Universal Standards GRI 1-3, applicable Sector Standards and selected Topic Standards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start with Universal, check sector, then add topics for each material impact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treating the Topic Standards as a menu before materiality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standards register lists title, publication year, applicability and disclosure owner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GRI reporting principles operate as quality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accuracy, balance, clarity, comparability, completeness, sustainability context, timeliness, verifiability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test every draft disclosure against all eight principles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principles checklist records evidence, exception and reviewer conclusion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Failure mode: positive-only narrative violates balance even when numbers are accurate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GRI reporting principles operate as quality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accuracy, balance, clarity, comparability, completeness, sustainability context, timeliness, verifiability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test every draft disclosure against all eight principles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positive-only narrative violates balance even when numbers are accurate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principles checklist records evidence, exception and reviewer conclusion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Control point: test every draft disclosure against all eight principles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GRI reporting principles operate as quality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accuracy, balance, clarity, comparability, completeness, sustainability context, timeliness, verifiability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test every draft disclosure against all eight principles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positive-only narrative violates balance even when numbers are accurate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principles checklist records evidence, exception and reviewer conclusion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Nine requirements support an in-accordance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principles; GRI2; material topics; GRI3; Topic disclosures; omissions; index; statement; notify GRI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claim in accordance only when all nine are satisfied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claim-readiness checklist carries nine pass/fail results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Failure mode: one missing content index invalidates the claim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Nine requirements support an in-accordance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principles; GRI2; material topics; GRI3; Topic disclosures; omissions; index; statement; notify GRI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claim in accordance only when all nine are satisfied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one missing content index invalidates the claim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claim-readiness checklist carries nine pass/fail results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Control point: claim in accordance only when all nine are satisfied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Nine requirements support an in-accordance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principles; GRI2; material topics; GRI3; Topic disclosures; omissions; index; statement; notify GRI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claim in accordance only when all nine are satisfied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one missing content index invalidates the claim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claim-readiness checklist carries nine pass/fail results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With-reference reporting needs a narrower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publish content index, statement of use and notify GRI for referenced disclosures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use with reference when not all in-accordance requirements are met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statement wording matches the completed checklist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Failure mode: marketing partial use as full compliance is misleading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With-reference reporting needs a narrower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publish content index, statement of use and notify GRI for referenced disclosures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use with reference when not all in-accordance requirements are met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marketing partial use as full compliance is misleading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statement wording matches the completed checklist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Control point: use with reference when not all in-accordance requirements are met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With-reference reporting needs a narrower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publish content index, statement of use and notify GRI for referenced disclosures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use with reference when not all in-accordance requirements are met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marketing partial use as full compliance is misleading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statement wording matches the completed checklist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GRI 2 reporting practices define the report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reporting period, frequency, contact point, restatements and external assurance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align period with financial reporting unless a difference is explained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report profile reconciles current and prior periods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Failure mode: changed period creates incomparable trend lines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GRI 2 reporting practices define the report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reporting period, frequency, contact point, restatements and external assurance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align period with financial reporting unless a difference is explained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changed period creates incomparable trend lines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report profile reconciles current and prior periods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Control point: align period with financial reporting unless a difference is explained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EDITABLE CHART · INDICATIVE TEACHING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trend · GRI 2 reporting practices define the report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66294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26679" y="1783080"/>
            <a:ext cx="3611880" cy="3886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05740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587752"/>
            <a:ext cx="2926080" cy="2423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report profile reconciles current and prior periods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5029200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Indicative figures — replace with controlled source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GRI 2 organisational details establish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legal name, ownership, headquarters, countries, activities and markets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disclose scale and operational context needed to interpret impacts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entity profile agrees with statutory and financial records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Failure mode: metrics without denominator or location mislead readers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GRI 2 organisational details establish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legal name, ownership, headquarters, countries, activities and markets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disclose scale and operational context needed to interpret impacts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metrics without denominator or location mislead readers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entity profile agrees with statutory and financial records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Control point: disclose scale and operational context needed to interpret impacts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GRI 2 organisational details establish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legal name, ownership, headquarters, countries, activities and markets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disclose scale and operational context needed to interpret impacts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metrics without denominator or location mislead readers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entity profile agrees with statutory and financial records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Workers and value chain need count definitions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employee type, non-employee worker, headcount/FTE, gender, region and method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publish definitions and use one measurement date or average consistently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HR reconciliation ties reported totals to payroll and contractor registers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Failure mode: mixing headcount and FTE creates false trends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Workers and value chain need count definitions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employee type, non-employee worker, headcount/FTE, gender, region and method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publish definitions and use one measurement date or average consistently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mixing headcount and FTE creates false trends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HR reconciliation ties reported totals to payroll and contractor registers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Control point: publish definitions and use one measurement date or average consistently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Workers and value chain need count definitions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employee type, non-employee worker, headcount/FTE, gender, region and method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publish definitions and use one measurement date or average consistently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mixing headcount and FTE creates false trends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HR reconciliation ties reported totals to payroll and contractor registers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Governance disclosures connect oversight to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highest governance body, committees, delegation, competence, conflicts and remuneration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name who reviews impacts and how often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minutes and terms of reference evidence review and escalation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Failure mode: generic Board oversight wording cannot be verified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Governance disclosures connect oversight to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highest governance body, committees, delegation, competence, conflicts and remuneration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name who reviews impacts and how often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generic Board oversight wording cannot be verified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minutes and terms of reference evidence review and escalation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Control point: name who reviews impacts and how often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Governance disclosures connect oversight to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highest governance body, committees, delegation, competence, conflicts and remuneration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name who reviews impacts and how often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generic Board oversight wording cannot be verified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minutes and terms of reference evidence review and escalation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Policy commitments must reach business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policy scope, due diligence, grievance, remediation and communication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test whether high-risk suppliers are covered and monitored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supplier clauses, training records and grievance outcomes triangulate implementation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Failure mode: policy publication without implementation evidence is symbolic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Policy commitments must reach business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policy scope, due diligence, grievance, remediation and communication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test whether high-risk suppliers are covered and monitored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policy publication without implementation evidence is symbolic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supplier clauses, training records and grievance outcomes triangulate implementation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Control point: test whether high-risk suppliers are covered and monitored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Policy commitments must reach business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policy scope, due diligence, grievance, remediation and communication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test whether high-risk suppliers are covered and monitored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policy publication without implementation evidence is symbolic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supplier clauses, training records and grievance outcomes triangulate implementation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GRI 3 begins with organisational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activities, business relationships, sustainability context and stakeholder perspectives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build a long list before ranking significance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context pack documents sources, assumptions and responsible analyst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Failure mode: starting from last year's topics hard-codes blind spots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Mechanism · GRI 3 begins with organisational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activities, business relationships, sustainability context and stakeholder perspectives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build a long list before ranking significance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starting from last year's topics hard-codes blind spots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context pack documents sources, assumptions and responsible analyst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Control point: build a long list before ranking significance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EDITABLE CHART · INDICATIVE TEACHING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trend · GRI 3 begins with organisational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66294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26679" y="1783080"/>
            <a:ext cx="3611880" cy="3886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05740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587752"/>
            <a:ext cx="2926080" cy="2423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context pack documents sources, assumptions and responsible 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5029200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Indicative figures — replace with controlled source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Impact identification separates actual from potential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positive/negative, actual/potential, direct/linked and short/long-term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describe impact on people or environment before management response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impact statement uses cause-pathway-subject-consequence structure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Failure mode: risk labels without affected subject obscure the impact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Impact identification separates actual from potential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positive/negative, actual/potential, direct/linked and short/long-term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describe impact on people or environment before management response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risk labels without affected subject obscure the impact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impact statement uses cause-pathway-subject-consequence structure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Control point: describe impact on people or environment before management response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Impact identification separates actual from potential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positive/negative, actual/potential, direct/linked and short/long-term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describe impact on people or environment before management response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risk labels without affected subject obscure the impact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impact statement uses cause-pathway-subject-consequence structure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Significance assessment uses severity and likelihood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severity comprises scale, scope and irremediable character; likelihood for potential impacts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human-rights severity takes precedence over likelihood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scoring sheet preserves raw evidence and rationale, not only a heatmap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Failure mode: averaging dimensions can hide an irremediable impact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Significance assessment uses severity and likelihood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severity comprises scale, scope and irremediable character; likelihood for potential impacts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human-rights severity takes precedence over likelihood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averaging dimensions can hide an irremediable impact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scoring sheet preserves raw evidence and rationale, not only a heatmap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Control point: human-rights severity takes precedence over likelihood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Significance assessment uses severity and likelihood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severity comprises scale, scope and irremediable character; likelihood for potential impacts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human-rights severity takes precedence over likelihood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averaging dimensions can hide an irremediable impact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scoring sheet preserves raw evidence and rationale, not only a heatmap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Prioritisation produces a defendable material-topic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threshold, ranking, expert judgement, stakeholder input and governance validation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include all impacts above threshold and explain judgement overrides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decision log records threshold, override, approver and rationale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Failure mode: management veto silently removes uncomfortable topics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Prioritisation produces a defendable material-topic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threshold, ranking, expert judgement, stakeholder input and governance validation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include all impacts above threshold and explain judgement overrides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management veto silently removes uncomfortable topics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decision log records threshold, override, approver and rationale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Control point: include all impacts above threshold and explain judgement overrides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Prioritisation produces a defendable material-topic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threshold, ranking, expert judgement, stakeholder input and governance 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include all impacts above threshold and explain judgement overrides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management veto silently removes uncomfortable topics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decision log records threshold, override, approver and rationale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GRI 3-2 links topics to reporting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material topic name, changes from prior period and list consistency with content index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reconcile topic list to every index entry before release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automated cross-check flags missing or duplicate topic labels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Failure mode: topic names drift across narrative, index and website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Mechanism · GRI 3-2 links topics to reporting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material topic name, changes from prior period and list consistency with content index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reconcile topic list to every index entry before release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topic names drift across narrative, index and website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automated cross-check flags missing or duplicate topic labels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Control point: reconcile topic list to every index entry before release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GRI 3-2 links topics to reporting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material topic name, changes from prior period and list consistency with content index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reconcile topic list to every index entry before release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topic names drift across narrative, index and website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automated cross-check flags missing or duplicate topic labels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GRI 3-3 tests management of each topic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impact description, policies, actions, tracking, effectiveness and stakeholder learning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report outcomes and effectiveness, not only commitments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topic fiche links baseline, target, action, result and evidence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Failure mode: activity counts are mistaken for impact reduction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Mechanism · GRI 3-3 tests management of each topic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impact description, policies, actions, tracking, effectiveness and stakeholder learning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report outcomes and effectiveness, not only commitments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activity counts are mistaken for impact reduction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topic fiche links baseline, target, action, result and evidence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Control point: report outcomes and effectiveness, not only commitments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EDITABLE CHART · INDICATIVE TEACHING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trend · GRI 3-3 tests management of each topic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 Material Topics 2021, Global Reporting Initiative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66294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26679" y="1783080"/>
            <a:ext cx="3611880" cy="3886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05740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587752"/>
            <a:ext cx="2926080" cy="2423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topic fiche links baseline, target, action, result and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5029200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Indicative figures — replace with controlled source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GRI content index is the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disclosure number, title, location, omission reason, sector reference and assurance mark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every reported disclosure must resolve to a precise location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index link-check opens the exact section and matches the current version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Failure mode: page ranges too broad to verify conceal gaps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Mechanism · The GRI content index is the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disclosure number, title, location, omission reason, sector reference and assurance mark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every reported disclosure must resolve to a precise location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page ranges too broad to verify conceal gaps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index link-check opens the exact section and matches the current version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Control point: every reported disclosure must resolve to a precise location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The GRI content index is the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disclosure number, title, location, omission reason, sector reference and assurance mark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every reported disclosure must resolve to a precise location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page ranges too broad to verify conceal gaps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index link-check opens the exact section and matches the current version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Reasons for omission have constrained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not applicable, legal prohibitions, confidentiality constraints, information unavailable/incomplete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state the reason and required explanation; use unavailable only with steps and timeframe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omission register is approved and reconciled to the index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Failure mode: blank cells or 'N/A' provide no accountable explanation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Reasons for omission have constrained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not applicable, legal prohibitions, confidentiality constraints, information unavailable/incomplete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state the reason and required explanation; use unavailable only with steps and timeframe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blank cells or 'N/A' provide no accountable explanation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omission register is approved and reconciled to the index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Control point: state the reason and required explanation; use unavailable only with steps and timeframe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Reasons for omission have constrained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not applicable, legal prohibitions, confidentiality constraints, information unavailable/incomplete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state the reason and required explanation; use unavailable only with steps and timeframe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blank cells or 'N/A' provide no accountable explanation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omission register is approved and reconciled to the index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Economic value connects operations to stakeholders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 201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direct economic value generated and distributed by revenue, costs, wages, capital, government and community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reconcile totals to financial statements and explain non-GAAP classifications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EVG&amp;D bridge agrees to trial balance and disclosure note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Failure mode: double counting community spend distorts distribution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Economic value connects operations to stakeholders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direct economic value generated and distributed by revenue, costs, wages, capital, government and community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reconcile totals to financial statements and explain non-GAAP classifications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double counting community spend distorts distribution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EVG&amp;D bridge agrees to trial balance and disclosure note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Control point: reconcile totals to financial statements and explain non-GAAP classifications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Economic value connects operations to stakeholders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direct economic value generated and distributed by revenue, costs, wages, capital, government and community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reconcile totals to financial statements and explain non-GAAP classifications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double counting community spend distorts distribution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EVG&amp;D bridge agrees to trial balance and disclosure note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Procurement disclosure needs a local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 204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share of procurement budget spent on suppliers local to significant locations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define local geography and significant location before calculation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supplier master and purchase ledger reproduce the percentage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Failure mode: changing radius year to year manufactures improvement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Procurement disclosure needs a local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share of procurement budget spent on suppliers local to significant locations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define local geography and significant location before calculation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changing radius year to year manufactures improvement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supplier master and purchase ledger reproduce the percentage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Control point: define local geography and significant location before calculation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Procurement disclosure needs a local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share of procurement budget spent on suppliers local to significant locations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define local geography and significant location before calculation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changing radius year to year manufactures improvement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supplier master and purchase ledger reproduce the percentage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Anti-corruption reporting follows case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 205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operations risk-assessed, communication/training coverage, confirmed incidents and actions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separate allegations, investigated cases and confirmed incidents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case register, hotline data and training population reconcile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Failure mode: reporting zero incidents without a detection channel is weak evidence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Anti-corruption reporting follows case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operations risk-assessed, communication/training coverage, confirmed incidents and actions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separate allegations, investigated cases and confirmed incidents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reporting zero incidents without a detection channel is weak evidence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case register, hotline data and training population reconcile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Control point: separate allegations, investigated cases and confirmed incidents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EDITABLE CHART · INDICATIVE TEACHING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trend · Anti-corruption reporting follows case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205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66294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26679" y="1783080"/>
            <a:ext cx="3611880" cy="3886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05740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587752"/>
            <a:ext cx="2926080" cy="2423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case register, hotline data and training population reconcile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5029200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Indicative figures — replace with controlled source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Energy data needs one unit and one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302 and GRI 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 302 and GRI 103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fuel, electricity, heating/cooling and renewable/non-renewable in joules with conversion factors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convert at source and retain factor version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meter-to-ledger reconciliation and factor table reproduce totals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Failure mode: mixing kWh, litres and GJ produces impossible totals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Energy data needs one unit and one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302 and GRI 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fuel, electricity, heating/cooling and renewable/non-renewable in joules with conversion factors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convert at source and retain factor version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mixing kWh, litres and GJ produces impossible totals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meter-to-ledger reconciliation and factor table reproduce totals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Control point: convert at source and retain factor version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Energy data needs one unit and one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302 and GRI 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fuel, electricity, heating/cooling and renewable/non-renewable in joules with conversion factors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convert at source and retain factor version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mixing kWh, litres and GJ produces impossible totals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meter-to-ledger reconciliation and factor table reproduce totals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GHG inventory separates Scopes and gases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305 and GRI 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 305 and GRI 102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activity data x emission factor x GWP; Scopes 1, 2 and 3; base year and consolidation approach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publish location- and market-based Scope 2 where applicable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calculation workbook traces every total to invoice, meter and factor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Failure mode: offsets netted into gross emissions hide performance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Mechanism · GHG inventory separates Scopes and gases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305 and GRI 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activity data x emission factor x GWP; Scopes 1, 2 and 3; base year and consolidation approach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publish location- and market-based Scope 2 where applicable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offsets netted into gross emissions hide performance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calculation workbook traces every total to invoice, meter and factor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Control point: publish location- and market-based Scope 2 where applicable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GHG inventory separates Scopes and gases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305 and GRI 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activity data x emission factor x GWP; Scopes 1, 2 and 3; base year and consolidation approach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publish location- and market-based Scope 2 where applicable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offsets netted into gross emissions hide performance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calculation workbook traces every total to invoice, meter and factor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Water reporting is location-sensitive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 303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withdrawal, discharge and consumption by source and water-stressed area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prioritise impacts where basin stress and dependency intersect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site-water balance equals withdrawal minus discharge within tolerance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Failure mode: global totals conceal a critical local impact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Mechanism · Water reporting is location-sensitive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withdrawal, discharge and consumption by source and water-stressed area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prioritise impacts where basin stress and dependency intersect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global totals conceal a critical local impact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site-water balance equals withdrawal minus discharge within tolerance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Control point: prioritise impacts where basin stress and dependency intersect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Evidence test · Water reporting is location-sensitive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withdrawal, discharge and consumption by source and water-stressed area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prioritise impacts where basin stress and dependency intersect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global totals conceal a critical local impact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site-water balance equals withdrawal minus discharge within tolerance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Waste data follows destination and recovery route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 306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generated, diverted from disposal and directed to disposal by composition and method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require transporter and destination evidence for recovery claims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waste manifest chain closes generator, transporter and facility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Failure mode: vendor invoice alone does not prove final treatment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Waste data follows destination and recovery route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generated, diverted from disposal and directed to disposal by composition and method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require transporter and destination evidence for recovery claims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vendor invoice alone does not prove final treatment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waste manifest chain closes generator, transporter and facility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Control point: require transporter and destination evidence for recovery claims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Waste data follows destination and recovery route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306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generated, diverted from disposal and directed to disposal by composition and method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require transporter and destination evidence for recovery claims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vendor invoice alone does not prove final treatment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waste manifest chain closes generator, transporter and facility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Biodiversity reporting starts with location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 101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site coordinates, ecosystem condition, direct drivers, dependencies, impacts and restoration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screen sites and value chain before selecting metrics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geospatial register and habitat baseline support the disclosure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Failure mode: reporting tree-planting without baseline condition overstates outcome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Biodiversity reporting starts with location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site coordinates, ecosystem condition, direct drivers, dependencies, impacts and restoration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screen sites and value chain before selecting metrics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reporting tree-planting without baseline condition overstates outcome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geospatial register and habitat baseline support the disclosure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Control point: screen sites and value chain before selecting metrics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EDITABLE CHART · INDICATIVE TEACHING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trend · Biodiversity reporting starts with location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101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66294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26679" y="1783080"/>
            <a:ext cx="3611880" cy="3886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05740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587752"/>
            <a:ext cx="2926080" cy="2423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geospatial register and habitat baseline support the disclosure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5029200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Indicative figures — replace with controlled source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Employment and safety denominators must match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401 and GRI 403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 401 and GRI 403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hire/turnover and recordable injury rates by defined worker population and hours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use the same population in numerator and denominator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incident log, hours records and HR roster reproduce rates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Failure mode: excluding contractors makes high-risk operations appear safer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Employment and safety denominators must match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401 and GRI 403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hire/turnover and recordable injury rates by defined worker population and hours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use the same population in numerator and denominator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excluding contractors makes high-risk operations appear safer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incident log, hours records and HR roster reproduce rates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Control point: use the same population in numerator and denominator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Employment and safety denominators must match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401 and GRI 403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hire/turnover and recordable injury rates by defined worker population and hours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use the same population in numerator and denominator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excluding contractors makes high-risk operations appear safer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incident log, hours records and HR roster reproduce rates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Diversity data needs categories and privacy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405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 405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governance and employee composition by gender, age and other relevant categories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aggregate or suppress small cells to protect individuals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privacy review and HR reconciliation accompany the 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Failure mode: over-granular tables reveal identities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Diversity data needs categories and privacy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405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governance and employee composition by gender, age and other relevant categories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aggregate or suppress small cells to protect individuals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over-granular tables reveal identities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privacy review and HR reconciliation accompany the table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Control point: aggregate or suppress small cells to protect individuals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Diversity data needs categories and privacy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405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governance and employee composition by gender, age and other relevant categories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aggregate or suppress small cells to protect individuals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over-granular tables reveal identities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privacy review and HR reconciliation accompany the 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Human-rights due diligence follows the impact pathway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and social Topic Standards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 2 and social Topic Standards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identify, prevent, mitigate, track, communicate and remediate adverse impacts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prioritise severity and affected-person voice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case evidence shows consultation, remedy and effectiveness review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Failure mode: supplier self-certification replaces due diligence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Human-rights due diligence follows the impact pathway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and social Topic Standards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identify, prevent, mitigate, track, communicate and remediate adverse impacts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prioritise severity and affected-person voice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supplier self-certification replaces due diligence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case evidence shows consultation, remedy and effectiveness review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Control point: prioritise severity and affected-person voice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Human-rights due diligence follows the impact pathway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and social Topic Standards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identify, prevent, mitigate, track, communicate and remediate adverse impacts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prioritise severity and affected-person voice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supplier self-certification replaces due diligence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case evidence shows consultation, remedy and effectiveness review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LU2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Customer disclosures connect incidents to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416-418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 416-418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health/safety, labelling/marketing non-compliance and substantiated privacy complaints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define confirmed case and reporting threshold consistently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legal, product and privacy registers reconcile to disclosed counts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Failure mode: combining inquiries with breaches inflates or suppresses trends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Customer disclosures connect incidents to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416-418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health/safety, labelling/marketing non-compliance and substantiated privacy complaints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define confirmed case and reporting threshold consistently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combining inquiries with breaches inflates or suppresses trends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legal, product and privacy registers reconcile to disclosed counts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Control point: define confirmed case and reporting threshold consistently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Customer disclosures connect incidents to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416-418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health/safety, labelling/marketing non-compliance and substantiated privacy complaints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define confirmed case and reporting threshold consistently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combining inquiries with breaches inflates or suppresses trends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legal, product and privacy registers reconcile to disclosed counts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LO2 · REAL USE CASE · 60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Activity 4 · Test a GRI claim and build the content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DBS Sustainability Report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37947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3291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32918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Determine in-accordance or with-reference status and create a working GRI content index.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3291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2918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B6372"/>
                </a:solidFill>
                <a:latin typeface="Arial"/>
              </a:rPr>
              <a:t>GRI 1 nine-requirement checklist, DBS report and index template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691640"/>
            <a:ext cx="678484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965960"/>
            <a:ext cx="6172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WORKFLOW — HIGH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6845B"/>
                </a:solidFill>
                <a:latin typeface="Arial"/>
              </a:rPr>
              <a:t>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DBS Sustainability Report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6845B"/>
                </a:solidFill>
                <a:latin typeface="Arial"/>
              </a:rPr>
              <a:t>Inspect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6845B"/>
                </a:solidFill>
                <a:latin typeface="Arial"/>
              </a:rPr>
              <a:t>Apply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6845B"/>
                </a:solidFill>
                <a:latin typeface="Arial"/>
              </a:rP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peer 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2912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6845B"/>
                </a:solidFill>
                <a:latin typeface="Arial"/>
              </a:rPr>
              <a:t>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Claim-readiness checklist and content-index extract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0912" y="4892040"/>
            <a:ext cx="598932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>
                <a:solidFill>
                  <a:srgbClr val="5B6372"/>
                </a:solidFill>
                <a:latin typeface="Arial"/>
              </a:rPr>
              <a:t>Full procedure: Learner Guide and activities/04-gri-claim-readiness/README.md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4 workflow · decision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DBS Sustainability Report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GRI 1 nine-requirement checklist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Record evidence location for each result.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Choose the defensible statement of use.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Create content-index entries for GRI 2 and GRI 3.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Claim-readiness checklist and content-index extract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Determine in-accordance or with-reference status and create a working GRI content index.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Evidence test · Activity 4 acceptance · Test a GRI claim and build the content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DBS Sustainability Report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 1 nine-requirement checklist, DBS report and index template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Determine in-accordance or with-reference status and create a working GRI content index.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Missing owner, boundary, rationale or source evidence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The claim wording matches the checklist; every index row resolves to an exact location or valid omission.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LO2 · REAL USE CASE · 75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5 · Determine material topics with GRI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CDL 2025 double materiality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37947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3291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32918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Identify, assess and prioritise impacts using the GRI 3 significance process.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3291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2918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B6372"/>
                </a:solidFill>
                <a:latin typeface="Arial"/>
              </a:rPr>
              <a:t>CDL topic list, impact register and severity worksheet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691640"/>
            <a:ext cx="678484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965960"/>
            <a:ext cx="6172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WORKFLOW — HIGH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C77600"/>
                </a:solidFill>
                <a:latin typeface="Arial"/>
              </a:rPr>
              <a:t>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CDL 2025 double materiality 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C77600"/>
                </a:solidFill>
                <a:latin typeface="Arial"/>
              </a:rPr>
              <a:t>Inspect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C77600"/>
                </a:solidFill>
                <a:latin typeface="Arial"/>
              </a:rPr>
              <a:t>Apply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C77600"/>
                </a:solidFill>
                <a:latin typeface="Arial"/>
              </a:rP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peer 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2912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C77600"/>
                </a:solidFill>
                <a:latin typeface="Arial"/>
              </a:rPr>
              <a:t>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Prioritised material-topic register and decision 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0912" y="4892040"/>
            <a:ext cx="598932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>
                <a:solidFill>
                  <a:srgbClr val="5B6372"/>
                </a:solidFill>
                <a:latin typeface="Arial"/>
              </a:rPr>
              <a:t>Full procedure: Learner Guide and activities/05-material-topics-due-diligence/README.md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5 workflow · decision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CDL 2025 double materiality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CDL topic list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Write impact statements using cause-pathway-subject-consequence.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Score scale, scope and irremediable character.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Assess likelihood only for potential impacts.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Prioritised material-topic register and decision log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Identify, assess and prioritise impacts using the GRI 3 significance process.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EDITABLE CHART · INDICATIVE TEACHING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Evidence trend · Activity 5 acceptance · Determine material topics with GRI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CDL 2025 double materiality process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66294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26679" y="1783080"/>
            <a:ext cx="3611880" cy="3886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05740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587752"/>
            <a:ext cx="2926080" cy="2423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High-severity human-rights impacts are not screened out by low likelihood; overrides carry approver and rationale.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5029200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Indicative figures — replace with controlled source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LO2 · REAL USE CASE · 55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6 · Assemble a GRI 2 governance evidence pack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CDL sustainability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37947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3291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32918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Draft governance disclosures from verifiable oversight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3291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2918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B6372"/>
                </a:solidFill>
                <a:latin typeface="Arial"/>
              </a:rPr>
              <a:t>CDL governance page, disclosure checklist and evidence index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691640"/>
            <a:ext cx="678484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965960"/>
            <a:ext cx="6172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WORKFLOW — HIGH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CDL sustainability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F6FEB"/>
                </a:solidFill>
                <a:latin typeface="Arial"/>
              </a:rPr>
              <a:t>Inspect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F6FEB"/>
                </a:solidFill>
                <a:latin typeface="Arial"/>
              </a:rPr>
              <a:t>Apply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F6FEB"/>
                </a:solidFill>
                <a:latin typeface="Arial"/>
              </a:rP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peer 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2912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F6FEB"/>
                </a:solidFill>
                <a:latin typeface="Arial"/>
              </a:rPr>
              <a:t>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Governance map, evidence index and GRI 2 draft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0912" y="4892040"/>
            <a:ext cx="598932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>
                <a:solidFill>
                  <a:srgbClr val="5B6372"/>
                </a:solidFill>
                <a:latin typeface="Arial"/>
              </a:rPr>
              <a:t>Full procedure: Learner Guide and activities/06-gri-2-governance-disclosures/README.md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6 workflow · decision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CDL sustainability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CDL governance page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Identify decision frequency and escalation route.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Capture competence, conflicts and remuneration links.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Match each claim to terms of reference or minutes.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Governance map, evidence index and GRI 2 draft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Draft governance disclosures from verifiable oversight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Evidence test · Activity 6 acceptance · Assemble a GRI 2 governance evidence pack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CDL sustainability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CDL governance page, disclosure checklist and evidence index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Draft governance disclosures from verifiable oversight evidence.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Missing owner, boundary, rationale or source evidence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Every oversight claim names an actor, decision, cadence and evidence record.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LO2 · REAL USE CASE · 80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7 · Calculate environmental GRI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Singapore manufacturing data pack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37947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3291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32918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Calculate energy, Scope 1/2 GHG, water and waste metrics with transparent boundaries and factors.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3291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2918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B6372"/>
                </a:solidFill>
                <a:latin typeface="Arial"/>
              </a:rPr>
              <a:t>Meter, fuel, water and waste CSV files with factor register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691640"/>
            <a:ext cx="678484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965960"/>
            <a:ext cx="6172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WORKFLOW — HIGH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6D3FD2"/>
                </a:solidFill>
                <a:latin typeface="Arial"/>
              </a:rPr>
              <a:t>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Singapore manufacturing data pack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6D3FD2"/>
                </a:solidFill>
                <a:latin typeface="Arial"/>
              </a:rPr>
              <a:t>Inspect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6D3FD2"/>
                </a:solidFill>
                <a:latin typeface="Arial"/>
              </a:rPr>
              <a:t>Apply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6D3FD2"/>
                </a:solidFill>
                <a:latin typeface="Arial"/>
              </a:rP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peer 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2912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6D3FD2"/>
                </a:solidFill>
                <a:latin typeface="Arial"/>
              </a:rPr>
              <a:t>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Controlled KPI workbook and four disclosure tables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0912" y="4892040"/>
            <a:ext cx="598932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>
                <a:solidFill>
                  <a:srgbClr val="5B6372"/>
                </a:solidFill>
                <a:latin typeface="Arial"/>
              </a:rPr>
              <a:t>Full procedure: Learner Guide and activities/07-environmental-kpi-workbook/README.md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7 workflow · decision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Singapore manufacturing data pack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Meter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Convert energy to GJ and calculate emissions as activity x factor.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Reconcile water withdrawal, discharge and consumption.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Classify waste by composition and destination.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Controlled KPI workbook and four disclosure tables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Calculate energy, Scope 1/2 GHG, water and waste metrics with transparent boundaries and factors.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Evidence test · Activity 7 acceptance · Calculate environmental GRI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Singapore manufacturing data pack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Meter, fuel, water and waste CSV files with factor register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Calculate energy, Scope 1/2 GHG, water and waste metrics with transparent boundaries and factors.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Missing owner, boundary, rationale or source evidence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Recalculation matches reported values; units, factors, boundaries and denominators are disclosed.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LO2 · REAL USE CASE · 65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8 · Build social disclosure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Regional logistics workforce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37947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3291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32918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Prepare employment, safety, diversity and privacy metrics without denominator or confidentiality errors.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3291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2918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B6372"/>
                </a:solidFill>
                <a:latin typeface="Arial"/>
              </a:rPr>
              <a:t>HR roster, hours, incident, training and complaint datasets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691640"/>
            <a:ext cx="678484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965960"/>
            <a:ext cx="6172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WORKFLOW — HIGH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08A73"/>
                </a:solidFill>
                <a:latin typeface="Arial"/>
              </a:rPr>
              <a:t>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Regional logistics workforce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08A73"/>
                </a:solidFill>
                <a:latin typeface="Arial"/>
              </a:rPr>
              <a:t>Inspect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08A73"/>
                </a:solidFill>
                <a:latin typeface="Arial"/>
              </a:rP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peer 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2912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08A73"/>
                </a:solidFill>
                <a:latin typeface="Arial"/>
              </a:rPr>
              <a:t>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Social KPI tables and privacy review record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0912" y="4892040"/>
            <a:ext cx="598932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>
                <a:solidFill>
                  <a:srgbClr val="5B6372"/>
                </a:solidFill>
                <a:latin typeface="Arial"/>
              </a:rPr>
              <a:t>Full procedure: Learner Guide and activities/08-social-disclosure-controls/README.md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8 workflow · decision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Regional logistics workforce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HR roster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Calculate hire, turnover and injury rates.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Reconcile training coverage to eligible population.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Aggregate diversity categories and suppress small cells.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Social KPI tables and privacy review record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Prepare employment, safety, diversity and privacy metrics without denominator or confidentiality errors.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Activity 8 acceptance · Build social disclosure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Regional logistics workforce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HR roster, hours, incident, training and complaint datasets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Prepare employment, safety, diversity and privacy metrics without denominator or confidentiality errors.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Missing owner, boundary, rationale or source evidence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Numerators and denominators use the same population; no small cell reveals an individual.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GRI TOPIC STANDARD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GRI 201 Economic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consolidated Standards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Disclosure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EVG&amp;D bridge to the financial statements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Worked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Revenue → operating costs → employee wages → providers of capital → government → community investment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Reconcile population, period, unit and boundary.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Retain source record, calculation, review and final location.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Activity 7 applies this contract to a controlled teaching dataset.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GRI TOPIC STANDARD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GRI 204 Procurement Practices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consolidated Standards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Disclosure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Local-spend percentage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Worked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local supplier spend ÷ procurement budget for significant locations × 100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Reconcile population, period, unit and boundary.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Retain source record, calculation, review and final location.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Activity 7 applies this contract to a controlled teaching dataset.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GRI TOPIC STANDARD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GRI 205 Anti-corruption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consolidated Standards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Disclosure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Coverage and confirmed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Worked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risk-assessed operations; policy communication/training; confirmed incidents and actions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Reconcile population, period, unit and boundary.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Retain source record, calculation, review and final location.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Activity 7 applies this contract to a controlled teaching dataset.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GRI TOPIC STANDARD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GRI 302/103 Energy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consolidated Standards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Disclosure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One energy unit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Worked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fuel and electricity converted to joules with versioned conversion factors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Reconcile population, period, unit and boundary.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Retain source record, calculation, review and final location.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Activity 7 applies this contract to a controlled teaching dataset.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GRI TOPIC STANDARD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GRI 305/102 Emissions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consolidated Standards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Disclosure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Gross Scopes before offsets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Worked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activity data × emission factor × GWP; disclose base year and consolidation approach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Reconcile population, period, unit and boundary.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Retain source record, calculation, review and final location.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Activity 7 applies this contract to a controlled teaching dataset.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GRI TOPIC STANDARD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GRI 303 Water and Effluents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consolidated Standards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Disclosure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Site water balance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Worked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withdrawal − discharge = consumption, assessed in water-stressed locations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Reconcile population, period, unit and boundary.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Retain source record, calculation, review and final location.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Activity 7 applies this contract to a controlled teaching dataset.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GRI TOPIC STANDARD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GRI 306 Waste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consolidated Standards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Disclosure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Destination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Worked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generated = diverted from disposal + directed to disposal, by composition and treatment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Reconcile population, period, unit and boundary.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Retain source record, calculation, review and final location.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Activity 7 applies this contract to a controlled teaching dataset.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GRI TOPIC STANDARD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GRI 101 Biodiversity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consolidated Standards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Disclosure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Location and ecosystem condition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Worked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site coordinates → dependency/impact driver → baseline → action → outcome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Reconcile population, period, unit and boundary.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Retain source record, calculation, review and final location.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Activity 8 applies this contract to a controlled teaching dataset.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GRI TOPIC STANDARD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GRI 403 Occupational Health and Safety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consolidated Standards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Disclosure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Consistent worker-hours denominator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Worked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recordable injuries ÷ hours worked × standard rate, including the defined worker population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Reconcile population, period, unit and boundary.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Retain source record, calculation, review and final location.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Activity 8 applies this contract to a controlled teaching dataset.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GRI TOPIC STANDARD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GRI 418 Customer Privacy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consolidated Standards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Disclosure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Substantiated complaints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Worked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classify inquiries, allegations, confirmed complaints, breaches and remediation consistently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Reconcile population, period, unit and boundary.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Retain source record, calculation, review and final location.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Activity 8 applies this contract to a controlled teaching dataset.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END OF LEARNING UNIT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Reflection and Evidence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11680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6968" y="2240280"/>
            <a:ext cx="411480" cy="4114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35607" y="2176272"/>
            <a:ext cx="1463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Strongest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196596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Which output is reproducible?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2011680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30168" y="2240280"/>
            <a:ext cx="411480" cy="4114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8" y="2176272"/>
            <a:ext cx="1463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Open exception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63240"/>
            <a:ext cx="196596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Which gap could change a conclusion?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011680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73368" y="2240280"/>
            <a:ext cx="411480" cy="4114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22007" y="2176272"/>
            <a:ext cx="1463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Stakeholder voice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63240"/>
            <a:ext cx="196596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Whose evidence is still missing?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2011680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16568" y="2240280"/>
            <a:ext cx="411480" cy="4114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5208" y="2176272"/>
            <a:ext cx="1463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Next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063240"/>
            <a:ext cx="196596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What must be resolved before drafting?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ata-assurance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64544"/>
            <a:ext cx="5559552" cy="312891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903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562356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148840"/>
            <a:ext cx="4754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LEARNING UNIT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51760"/>
            <a:ext cx="480060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100" b="1">
                <a:solidFill>
                  <a:srgbClr val="161B26"/>
                </a:solidFill>
                <a:latin typeface="Arial"/>
              </a:rPr>
              <a:t>Draft, Verify and Submit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069080"/>
            <a:ext cx="4754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Turn controlled data into a balanced, approved and accessible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LU3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 reporting plan is a controlled production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EBOOK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work breakdown, disclosure owner, evidence due date, reviewer, status and dependency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freeze scope before drafting and escalate overdue critical evidence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status dashboard shows disclosure-level readiness and blockers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Failure mode: writing starts before data ownership is resolved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A reporting plan is a controlled production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work breakdown, disclosure owner, evidence due date, reviewer, status and dependency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freeze scope before drafting and escalate overdue critical 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writing starts before data ownership is resolved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status dashboard shows disclosure-level readiness and blockers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Control point: freeze scope before drafting and escalate overdue critical evidence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A reporting plan is a controlled production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work breakdown, disclosure owner, evidence due date, reviewer, status and dependency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freeze scope before drafting and escalate overdue critical 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writing starts before data ownership is resolved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status dashboard shows disclosure-level readiness and blockers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LU3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 data dictionary turns KPIs into contracts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EBOOK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name, definition, unit, boundary, source, frequency, owner, formula and controls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reject any metric without a reproducible definition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independent reviewer reproduces metric from dictionary and source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Failure mode: same label is calculated differently by sites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A data dictionary turns KPIs into contracts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name, definition, unit, boundary, source, frequency, owner, formula and controls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reject any metric without a reproducible definition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same label is calculated differently by sites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independent reviewer reproduces metric from dictionary and source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Control point: reject any metric without a reproducible definition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A data dictionary turns KPIs into contracts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name, definition, unit, boundary, source, frequency, owner, formula and controls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reject any metric without a reproducible definition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same label is calculated differently by sites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independent reviewer reproduces metric from dictionary and source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LU3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Absolute and intensity metrics answer different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SAP, What is sustainability reporting and how to do it 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absolute impact and normalised ratio with explicit denominator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publish both where growth can mask efficiency or vice versa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trend chart displays numerator, denominator and ratio together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Failure mode: revenue intensity improves while absolute emissions rise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Absolute and intensity metrics answer different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SAP, What is sustainability reporting and how to do it 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absolute impact and normalised ratio with explicit denominator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publish both where growth can mask efficiency or vice versa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revenue intensity improves while absolute emissions rise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trend chart displays numerator, denominator and ratio together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Control point: publish both where growth can mask efficiency or vice versa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Absolute and intensity metrics answer different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SAP, What is sustainability reporting and how to do it 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absolute impact and normalised ratio with explicit denominator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publish both where growth can mask efficiency or vice versa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revenue intensity improves while absolute emissions rise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trend chart displays numerator, denominator and ratio together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LU3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Calculations must preserve factors and assumptions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EBOOK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raw activity data, conversion, emission factor, GWP, rounding and uncertainty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lock factor version for the reporting period and disclose material changes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recalculation from raw records matches reported value within tolerance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Failure mode: formula cells overwritten with values destroy traceability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Calculations must preserve factors and assumptions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raw activity data, conversion, emission factor, GWP, rounding and uncertainty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lock factor version for the reporting period and disclose material changes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formula cells overwritten with values destroy traceability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recalculation from raw records matches reported value within tolerance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Control point: lock factor version for the reporting period and disclose material changes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Calculations must preserve factors and assumptions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raw activity data, conversion, emission factor, GWP, rounding and uncertainty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lock factor version for the reporting period and disclose material changes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formula cells overwritten with values destroy traceability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recalculation from raw records matches reported value within tolerance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LU3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Source-to-report controls prevent spreadsheet drift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EBOOK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unique metric ID, source file, preparer, reviewer, timestamp and change log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one controlled master; published figures are linked, not retyped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cross-foot and duplicate-value tests return zero exceptions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Failure mode: copy-paste creates inconsistent numbers across report sections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Source-to-report controls prevent spreadsheet drift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unique metric ID, source file, preparer, reviewer, timestamp and change log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one controlled master; published figures are linked, not retyped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copy-paste creates inconsistent numbers across report sections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cross-foot and duplicate-value tests return zero exceptions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Control point: one controlled master; published figures are linked, not retyped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EDITABLE CHART · INDICATIVE TEACHING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trend · Source-to-report controls prevent spreadsheet drift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66294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26679" y="1783080"/>
            <a:ext cx="3611880" cy="3886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05740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587752"/>
            <a:ext cx="2926080" cy="2423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cross-foot and duplicate-value tests return zero exceptions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5029200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Indicative figures — replace with controlled source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LU3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Chart choice follows the comparison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EBOOK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line for time, bars for categories, waterfall for bridge, table for exact values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use a common baseline and label units, periods and scope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chart values reconcile to table and accessible narrative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Failure mode: truncated axes exaggerate small changes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Chart choice follows the comparison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line for time, bars for categories, waterfall for bridge, table for exact values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use a common baseline and label units, periods and scope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truncated axes exaggerate small changes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chart values reconcile to table and accessible narrative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Control point: use a common baseline and label units, periods and scope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Chart choice follows the comparison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line for time, bars for categories, waterfall for bridge, table for exact values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use a common baseline and label units, periods and scope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truncated axes exaggerate small changes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chart values reconcile to table and accessible narrative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LU3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Balanced narrative reports shortfalls and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target, current result, variance, cause, corrective action and forward commitment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state misses with the same prominence as achievements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claim register links every statement to evidence and approver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Failure mode: selective success stories create greenwashing risk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Balanced narrative reports shortfalls and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target, current result, variance, cause, corrective action and forward commitment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state misses with the same prominence as achievements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selective success stories create greenwashing risk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claim register links every statement to evidence and approver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Control point: state misses with the same prominence as achievements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Balanced narrative reports shortfalls and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target, current result, variance, cause, corrective action and forward commitment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state misses with the same prominence as achievements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selective success stories create greenwashing risk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claim register links every statement to evidence and approver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LU3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Proofreading includes numeric and structural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EBOOK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units, signs, totals, dates, entity names, disclosure codes, cross-references and links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run independent content and data reviews before approval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issue log closes all critical and high findings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Failure mode: grammar-only proofreading leaves material numeric errors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Proofreading includes numeric and structural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units, signs, totals, dates, entity names, disclosure codes, cross-references and links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run independent content and data reviews before approval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grammar-only proofreading leaves material numeric errors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issue log closes all critical and high findings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Control point: run independent content and data reviews before approval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Proofreading includes numeric and structural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Hasan, Sustainability Accounting and Reporting Theory and Practice; Bernerberg, Sustainability Reporting Framework; Hussey and Ong, Financial and Sustainability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units, signs, totals, dates, entity names, disclosure codes, cross-references and links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run independent content and data reviews before approval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grammar-only proofreading leaves material numeric errors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issue log closes all critical and high findings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LU3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Governance approval needs version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draft ID, change summary, evidence freeze, legal review, Board approval and release version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no post-approval edits without re-approval of affected sections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hash and approval record bind the published file to signed version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Failure mode: last-minute edits bypass the evidence owner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Mechanism · Governance approval needs version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draft ID, change summary, evidence freeze, legal review, Board approval and release version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no post-approval edits without re-approval of affected sections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last-minute edits bypass the evidence owner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hash and approval record bind the published file to signed version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Control point: no post-approval edits without re-approval of affected sections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Governance approval needs version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2 General Disclosures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draft ID, change summary, evidence freeze, legal review, Board approval and release version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no post-approval edits without re-approval of affected sections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last-minute edits bypass the evidence owner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hash and approval record bind the published file to signed version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LU3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Assurance readiness starts before year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SGX Mainboard Rules 711A and 711B, current at 11 September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SGX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criteria, subject matter, boundary, evidence owner, control and sample population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perform readiness testing on high-risk metrics before data freeze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PBC list and dry-run samples show complete evidence chains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Failure mode: assurer discovers missing source evidence after publication deadline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Mechanism · Assurance readiness starts before year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SGX Mainboard Rules 711A and 711B, current at 11 September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criteria, subject matter, boundary, evidence owner, control and sample population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perform readiness testing on high-risk metrics before data freeze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assurer discovers missing source evidence after publication deadline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PBC list and dry-run samples show complete evidence chains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Control point: perform readiness testing on high-risk metrics before data freeze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EDITABLE CHART · INDICATIVE TEACHING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trend · Assurance readiness starts before year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SGX Mainboard Rules 711A and 711B, current at 11 September 2026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66294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26679" y="1783080"/>
            <a:ext cx="3611880" cy="3886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05740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587752"/>
            <a:ext cx="2926080" cy="2423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PBC list and dry-run samples show complete evidence chains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5029200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Indicative figures — replace with controlled source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LU3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Submission is a multi-channel release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Board-approved PDF, content index, statement of use, GRI notification, website and stakeholder notice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release the same approved version across channels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post-release link and checksum inventory confirms consistency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Failure mode: website and annual report carry different totals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Mechanism · Submission is a multi-channel release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Board-approved PDF, content index, statement of use, GRI notification, website and stakeholder notice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release the same approved version across channels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website and annual report carry different totals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post-release link and checksum inventory confirms consistency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Control point: release the same approved version across channels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Evidence test · Submission is a multi-channel release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GRI 1 Foundation 2021, Global Reporting Initiative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Board-approved PDF, content index, statement of use, GRI notification, website and stakeholder notice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release the same approved version across channels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website and annual report carry different totals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post-release link and checksum inventory confirms consistency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LU3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Monitoring closes the reporting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SAP, What is sustainability reporting and how to do it 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baseline, target, leading indicator, lagging outcome, owner, cadence and escalation threshold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trigger corrective action when variance exceeds tolerance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quarterly review minutes record variance, decision and follow-up owner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Failure mode: targets reset annually without learning from misses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Mechanism · Monitoring closes the reporting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SAP, What is sustainability reporting and how to do it 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baseline, target, leading indicator, lagging outcome, owner, cadence and escalation threshold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trigger corrective action when variance exceeds tolerance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targets reset annually without learning from misses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quarterly review minutes record variance, decision and follow-up owner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Control point: trigger corrective action when variance exceeds tolerance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Evidence test · Monitoring closes the reporting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SAP, What is sustainability reporting and how to do it 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baseline, target, leading indicator, lagging outcome, owner, cadence and escalation threshold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trigger corrective action when variance exceeds tolerance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targets reset annually without learning from misses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quarterly review minutes record variance, decision and follow-up owner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LO3 · REAL USE CASE · 70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61B26"/>
                </a:solidFill>
                <a:latin typeface="Arial"/>
              </a:rPr>
              <a:t>Activity 9 · Draft and visualise a material-topic 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CDL decarbonisation topic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37947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3291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32918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Turn controlled data into a balanced GRI 3-3 topic section and decision-useful chart.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3291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2918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B6372"/>
                </a:solidFill>
                <a:latin typeface="Arial"/>
              </a:rPr>
              <a:t>Topic fiche, KPI table, claim register and chart template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691640"/>
            <a:ext cx="678484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965960"/>
            <a:ext cx="6172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WORKFLOW — HIGH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6845B"/>
                </a:solidFill>
                <a:latin typeface="Arial"/>
              </a:rPr>
              <a:t>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CDL decarbonisation topic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6845B"/>
                </a:solidFill>
                <a:latin typeface="Arial"/>
              </a:rPr>
              <a:t>Inspect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6845B"/>
                </a:solidFill>
                <a:latin typeface="Arial"/>
              </a:rPr>
              <a:t>Apply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6845B"/>
                </a:solidFill>
                <a:latin typeface="Arial"/>
              </a:rP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peer 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2912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16845B"/>
                </a:solidFill>
                <a:latin typeface="Arial"/>
              </a:rPr>
              <a:t>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Two-page topic section with editable chart and evidence links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0912" y="4892040"/>
            <a:ext cx="598932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>
                <a:solidFill>
                  <a:srgbClr val="5B6372"/>
                </a:solidFill>
                <a:latin typeface="Arial"/>
              </a:rPr>
              <a:t>Full procedure: Learner Guide and activities/09-draft-and-visualise-report/README.md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9 workflow · decision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CDL decarbonisation topic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Topic fiche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Describe policy, actions and due-diligence process.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Compare result to baseline and target.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Select line, bar, waterfall or table based on the question.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Two-page topic section with editable chart and evidence links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Turn controlled data into a balanced GRI 3-3 topic section and decision-useful chart.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CONTROL · REVIEW THE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Evidence test · Activity 9 acceptance · Draft and visualise a material-topic 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CDL decarbonisation topic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Topic fiche, KPI table, claim register and chart template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Decision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Turn controlled data into a balanced GRI 3-3 topic section and decision-useful chart.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Failure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Missing owner, boundary, rationale or source evidence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Acceptance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Chart reconciles to the table; narrative reports both achievement and material shortfall.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Reviewer challenge: can another person reproduce the claim from the named source without asking the preparer?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LO3 · REAL USE CASE · 75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10 · Proofread, assure and submit the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Board release simulation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37947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3291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32918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Execute numeric, content, approval and publication controls on a near-final report.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3291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2918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B6372"/>
                </a:solidFill>
                <a:latin typeface="Arial"/>
              </a:rPr>
              <a:t>Near-final report, content index, issue log and approval checklist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691640"/>
            <a:ext cx="678484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965960"/>
            <a:ext cx="6172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WORKFLOW — HIGH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C77600"/>
                </a:solidFill>
                <a:latin typeface="Arial"/>
              </a:rPr>
              <a:t>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Board release simulation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C77600"/>
                </a:solidFill>
                <a:latin typeface="Arial"/>
              </a:rPr>
              <a:t>Inspect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source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8936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C77600"/>
                </a:solidFill>
                <a:latin typeface="Arial"/>
              </a:rPr>
              <a:t>Apply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4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C77600"/>
                </a:solidFill>
                <a:latin typeface="Arial"/>
              </a:rP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peer 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2912" y="2852928"/>
            <a:ext cx="228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94392" y="27889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38328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C77600"/>
                </a:solidFill>
                <a:latin typeface="Arial"/>
              </a:rPr>
              <a:t>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794760"/>
            <a:ext cx="84124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19" b="0">
                <a:solidFill>
                  <a:srgbClr val="161B26"/>
                </a:solidFill>
                <a:latin typeface="Arial"/>
              </a:rPr>
              <a:t>Closed issue log, approval record and submission inventory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0912" y="4892040"/>
            <a:ext cx="598932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>
                <a:solidFill>
                  <a:srgbClr val="5B6372"/>
                </a:solidFill>
                <a:latin typeface="Arial"/>
              </a:rPr>
              <a:t>Full procedure: Learner Guide and activities/10-proofread-assure-and-submit/README.md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Activity 10 workflow · decision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Board release simulation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Near-final report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Validate units, dates, entity names, codes, links and omissions.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Close critical findings and document remaining limitations.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Bind the approved version to Board sign-off and checksum.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Closed issue log, approval record and submission inventory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Execute numeric, content, approval and publication controls on a near-final report.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EDITABLE CHART · INDICATIVE TEACHING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61B26"/>
                </a:solidFill>
                <a:latin typeface="Arial"/>
              </a:rPr>
              <a:t>Evidence trend · Activity 10 acceptance · Proofread, assure and submit the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Board release simulation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55648"/>
          <a:ext cx="66294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26679" y="1783080"/>
            <a:ext cx="3611880" cy="3886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05740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587752"/>
            <a:ext cx="2926080" cy="2423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Zero open critical findings; the approved hash matches every released copy and every content-index link resolves.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5029200"/>
            <a:ext cx="2926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Indicative figures — replace with controlled source 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COURSE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You Can Now Produce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Decision-useful purpose and applicability memo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GRI-aligned content map and material topics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Reproducible KPI and control trail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Release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Reviewed, approved and link-checked report package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Competence is visible in the artifacts — not in the number of pages written.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CLOSING ·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· Final Reminder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Original TMS papers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Complete assessment digital attendance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WA · 60 minutes · open book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Case Study · 60 minutes · open book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Upload on LMS and sign the summary record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2413A"/>
                </a:solidFill>
                <a:latin typeface="Arial"/>
              </a:rPr>
              <a:t>Use only the provided candidate papers; answer keys remain trainer-only.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MECHANISM · SOURCE TO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Flow · Final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Tertiary Infotech assessment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847088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TRAQOM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scan LMS QR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0779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07792" y="1874519"/>
            <a:ext cx="1847088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Attendance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assessment record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8231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02352" y="1874519"/>
            <a:ext cx="1847088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08A73"/>
                </a:solidFill>
                <a:latin typeface="Arial"/>
              </a:rPr>
              <a:t>WA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K1-K5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7687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9691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6912" y="1874519"/>
            <a:ext cx="1847088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845B"/>
                </a:solidFill>
                <a:latin typeface="Arial"/>
              </a:rPr>
              <a:t>Case Study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A1-A5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71432" y="3246120"/>
            <a:ext cx="320040" cy="0"/>
          </a:xfrm>
          <a:prstGeom prst="line">
            <a:avLst/>
          </a:prstGeom>
          <a:ln>
            <a:solidFill>
              <a:srgbClr val="5B63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91472" y="1874519"/>
            <a:ext cx="1847088" cy="2852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74519"/>
            <a:ext cx="1847088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2258568"/>
            <a:ext cx="749808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236976"/>
            <a:ext cx="1536192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77600"/>
                </a:solidFill>
                <a:latin typeface="Arial"/>
              </a:rPr>
              <a:t>Sign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4" y="3703320"/>
            <a:ext cx="1517904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61B26"/>
                </a:solidFill>
                <a:latin typeface="Arial"/>
              </a:rPr>
              <a:t>summary record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65776"/>
            <a:ext cx="10835640" cy="6766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21224"/>
            <a:ext cx="103327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C2413A"/>
                </a:solidFill>
                <a:latin typeface="Arial"/>
              </a:rPr>
              <a:t>Notify the assessor immediately if the LMS or any candidate paper is inaccessible.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CLOSING · TRAQOM AND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Digital Attendance · Mandatory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08192"/>
            <a:ext cx="1083564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" b="0">
                <a:solidFill>
                  <a:srgbClr val="5B6372"/>
                </a:solidFill>
                <a:latin typeface="Arial"/>
              </a:rPr>
              <a:t>Source: SkillsFuture Singapore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submitted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submitted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submit now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Confirm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show successful 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08A73"/>
                </a:solidFill>
                <a:latin typeface="Arial"/>
              </a:rPr>
              <a:t>Assessment attendance is separate from AM and PM attendance.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106984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COURSE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0835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64224"/>
            <a:ext cx="45720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Sustainability Reporting and GRI Standards · TGS-2023036644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6364224"/>
            <a:ext cx="493776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64224"/>
            <a:ext cx="685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82296" cy="3383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Use the Activity outputs at 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745736"/>
            <a:ext cx="128016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82296" cy="338328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Keep evidence behind every claim.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4745736"/>
            <a:ext cx="1280160" cy="25603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24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82296" cy="33832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Improve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Close the loop from target to action.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745736"/>
            <a:ext cx="1280160" cy="25603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87968" y="1691640"/>
            <a:ext cx="2487168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82296" cy="3383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1901952"/>
            <a:ext cx="438912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7776" y="1847088"/>
            <a:ext cx="160934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Support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487168"/>
            <a:ext cx="1993392" cy="2240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4745736"/>
            <a:ext cx="1280160" cy="25603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98864" y="4754880"/>
            <a:ext cx="117043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2852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431536"/>
            <a:ext cx="104241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F6FEB"/>
                </a:solidFill>
                <a:latin typeface="Arial"/>
              </a:rPr>
              <a:t>Tertiary Infotech Academy Pte Ltd · UEN 201200696W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